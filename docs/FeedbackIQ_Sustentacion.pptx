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E8E6E1"/>
                </a:solidFill>
                <a:latin typeface="Calibri"/>
              </a:rPr>
              <a:t>Feedback</a:t>
            </a:r>
            <a:r>
              <a:rPr sz="5400" b="1">
                <a:solidFill>
                  <a:srgbClr val="7FD8BE"/>
                </a:solidFill>
                <a:latin typeface="Calibri"/>
              </a:rPr>
              <a:t>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93A6"/>
                </a:solidFill>
                <a:latin typeface="Calibri"/>
              </a:rPr>
              <a:t>Ahorro de tokens midiendo español vs inglés —</a:t>
            </a:r>
          </a:p>
          <a:p>
            <a:pPr algn="l"/>
            <a:r>
              <a:rPr sz="1800" b="0">
                <a:solidFill>
                  <a:srgbClr val="8A93A6"/>
                </a:solidFill>
                <a:latin typeface="Calibri"/>
              </a:rPr>
              <a:t>traducción neuronal local + analítica + reportes con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Sustentación  ·  Arquitectura  ·  Optimización  ·  Automatización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D8BE"/>
                </a:solidFill>
                <a:latin typeface="Calibri"/>
              </a:rPr>
              <a:t>Equipo de 3   ·   FastAPI   ·   Vite   ·   OPUS-MT + CTranslate2   ·   n8n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  <a:latin typeface="Calibri"/>
              </a:rPr>
              <a:t>HOY PRESENTAMOS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6E1"/>
                </a:solidFill>
                <a:latin typeface="Calibri"/>
              </a:rPr>
              <a:t>Estructura de la exposición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Orden de la charla (de arriba hacia abajo). El stack va en la diapositiva siguiente.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2024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6E1"/>
                </a:solidFill>
                <a:latin typeface="Calibri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128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Ahorro de tokens midiendo ES vs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3347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6E1"/>
                </a:solidFill>
                <a:latin typeface="Calibri"/>
              </a:rPr>
              <a:t>API REST + Vite + concurrently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92607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Cómo se comunica y se levanta 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3467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46704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6E1"/>
                </a:solidFill>
                <a:latin typeface="Calibri"/>
              </a:rPr>
              <a:t>Solución: OPUS-MT + CTranslate2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3931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Traducción neuronal local ES → 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993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59936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6E1"/>
                </a:solidFill>
                <a:latin typeface="Calibri"/>
              </a:rPr>
              <a:t>Modelo neuronal (profundización)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35254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Qué es, por qué se usa y por qué CTranslate2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731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773168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6E1"/>
                </a:solidFill>
                <a:latin typeface="Calibri"/>
              </a:rPr>
              <a:t>Prueba de la app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06577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Demo en vivo: subir Excel, ver métricas, exportar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486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48640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6E1"/>
                </a:solidFill>
                <a:latin typeface="Calibri"/>
              </a:rPr>
              <a:t>n8n · Reportes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77900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Webhook → reglas → Sheets → Gmail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  <a:latin typeface="Calibri"/>
              </a:rPr>
              <a:t>TECNOLOGÍAS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6E1"/>
                </a:solidFill>
                <a:latin typeface="Calibri"/>
              </a:rPr>
              <a:t>Stack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Herramientas que usamos (no es el orden de la exposición).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Python, FastAPI, uvicorn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14884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505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Vite, JavaScript, Chart.js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tiktoken · encoding o200k_base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7180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10896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Traducción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107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OPUS-MT (Marian) es→en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690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Motor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708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CTranslate2 (inferencia en CPU)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690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3708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pandas · openpyxl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89204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0292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Monorepo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3095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npm run dev + concurrently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892040"/>
            <a:ext cx="5303520" cy="82296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02920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Reportes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33095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n8n · Google Sheets · Gmail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6E1"/>
                </a:solidFill>
                <a:latin typeface="Calibri"/>
              </a:rPr>
              <a:t>API REST · Vite · concurrently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926080" cy="310896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FD8BE"/>
                </a:solidFill>
                <a:latin typeface="Calibri"/>
              </a:rPr>
              <a:t>Bloque: REST / Vite / monorepo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420624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API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El frontend llama al backend por HTTP.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Rutas: /api/analyze, /api/report…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Métodos GET y POST.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Respuestas en JSON.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El backend puede hacer POST a n8n.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737360"/>
            <a:ext cx="3383280" cy="420624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A15B"/>
                </a:solidFill>
                <a:latin typeface="Calibri"/>
              </a:rPr>
              <a:t>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Sirve el frontend en desarrollo.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Puerto 5173.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Proxy: /api → :4004.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Cambios del UI en tiempo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737360"/>
            <a:ext cx="3383280" cy="420624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93A6"/>
                </a:solidFill>
                <a:latin typeface="Calibri"/>
              </a:rPr>
              <a:t>concurrently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4688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Un comando: npm run dev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Levanta backend + frontend.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No hace falta dos terminales.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300" b="0">
                <a:solidFill>
                  <a:srgbClr val="E8E6E1"/>
                </a:solidFill>
                <a:latin typeface="Calibri"/>
              </a:rPr>
              <a:t>El backend sigue siendo FastAPI.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172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Frase: REST = recursos por URL + verbos HTTP + JSON.  concurrently no reemplaza FastAPI: solo lo arranca con Vite.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  <a:latin typeface="Calibri"/>
              </a:rPr>
              <a:t>CÓMO LO RESOLVIMOS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6E1"/>
                </a:solidFill>
                <a:latin typeface="Calibri"/>
              </a:rPr>
              <a:t>De Ollama lento a OPUS-MT + CTranslate2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214884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A15B"/>
                </a:solidFill>
                <a:latin typeface="Calibri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LLM local (Ollama) traducía todo.</a:t>
            </a:r>
          </a:p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Con cientos o miles de filas era demasiado lento.</a:t>
            </a:r>
          </a:p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Un modelo general no era el camino para lotes grandes.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120640" cy="2148840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FD8BE"/>
                </a:solidFill>
                <a:latin typeface="Calibri"/>
              </a:rPr>
              <a:t>AHORA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OPUS-MT (Marian): traduce oraciones ES → EN</a:t>
            </a:r>
          </a:p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con contexto (no palabras sueltas).</a:t>
            </a:r>
          </a:p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 </a:t>
            </a:r>
          </a:p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CTranslate2: ejecuta ese modelo más rápido en CPU.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FLUJO DE OPTIMIZACIÓN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1  Excel 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Texto original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93A6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2  OPUS-MT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Oración → inglés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93A6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3  CTranslate2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Inferencia rápida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93A6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4  tiktoken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o200k cuenta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93A6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5  Ahorro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ES vs EN + 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8E6E1"/>
                </a:solidFill>
                <a:latin typeface="Calibri"/>
              </a:rPr>
              <a:t>Siempre español → inglés (no al revés).</a:t>
            </a:r>
          </a:p>
          <a:p>
            <a:pPr algn="l"/>
            <a:r>
              <a:rPr sz="1500" b="0">
                <a:solidFill>
                  <a:srgbClr val="E8E6E1"/>
                </a:solidFill>
                <a:latin typeface="Calibri"/>
              </a:rPr>
              <a:t>No es un diccionario: son oraciones con contexto, lógicas.</a:t>
            </a:r>
          </a:p>
          <a:p>
            <a:pPr algn="l"/>
            <a:r>
              <a:rPr sz="1500" b="0">
                <a:solidFill>
                  <a:srgbClr val="E8E6E1"/>
                </a:solidFill>
                <a:latin typeface="Calibri"/>
              </a:rPr>
              <a:t>Después tiktoken o200k mide tokens en ES y en EN para mostrar el ahorro.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  <a:latin typeface="Calibri"/>
              </a:rPr>
              <a:t>PROFUNDIZACIÓN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6E1"/>
                </a:solidFill>
                <a:latin typeface="Calibri"/>
              </a:rPr>
              <a:t>Modelo neuronal local + CTranslate2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743200" cy="310896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FD8BE"/>
                </a:solidFill>
                <a:latin typeface="Calibri"/>
              </a:rPr>
              <a:t>Compañero · modelo neuronal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¿Qué es el modelo neuronal?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OPUS-MT (arquitectura Marian). Aprendió de muchos pares ES–EN. Genera la frase en inglés con contexto, no con un diccionario.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¿Por qué se dice neuronal?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Porque usa redes entrenadas (transformers). El conocimiento está en los pesos del modelo, no en reglas if/else de palabras.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¿Por qué CTranslate2?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87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Es el motor de inferencia: hace que OPUS-MT corra más rápido y liviano en CPU que un stack genérico de entrenamiento.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FD8BE"/>
                </a:solidFill>
                <a:latin typeface="Calibri"/>
              </a:rPr>
              <a:t>¿Qué aporta al producto?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389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6E1"/>
                </a:solidFill>
                <a:latin typeface="Calibri"/>
              </a:rPr>
              <a:t>Inglés real → menos tokens con o200k → ahorro medible. Todo local, sin API de traducción de pago en el núcleo.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  <a:latin typeface="Calibri"/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6E1"/>
                </a:solidFill>
                <a:latin typeface="Calibri"/>
              </a:rPr>
              <a:t>Prueba de la app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743200" cy="310896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FD8BE"/>
                </a:solidFill>
                <a:latin typeface="Calibri"/>
              </a:rPr>
              <a:t>Compañero · prueba la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3A6"/>
                </a:solidFill>
                <a:latin typeface="Calibri"/>
              </a:rPr>
              <a:t>Guion corto para quien prueba la web en la sustentación: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698480" cy="713232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957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6E1"/>
                </a:solidFill>
                <a:latin typeface="Calibri"/>
              </a:rPr>
              <a:t>Abrir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6"/>
                </a:solidFill>
                <a:latin typeface="Calibri"/>
              </a:rPr>
              <a:t>http://localhost:5173  (app ya levantada con npm run dev)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90672"/>
            <a:ext cx="10698480" cy="713232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735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00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6E1"/>
                </a:solidFill>
                <a:latin typeface="Calibri"/>
              </a:rPr>
              <a:t>Subir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7355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6"/>
                </a:solidFill>
                <a:latin typeface="Calibri"/>
              </a:rPr>
              <a:t>samples/reviews_sample.xlsx  · optimización ON  · dominio reviews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95344"/>
            <a:ext cx="10698480" cy="713232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05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6E1"/>
                </a:solidFill>
                <a:latin typeface="Calibri"/>
              </a:rPr>
              <a:t>Resultado núcleo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07822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6"/>
                </a:solidFill>
                <a:latin typeface="Calibri"/>
              </a:rPr>
              <a:t>Tokens originales vs optimizados · tiempo · ahorro · descargar Excel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00016"/>
            <a:ext cx="10698480" cy="713232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8289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097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6E1"/>
                </a:solidFill>
                <a:latin typeface="Calibri"/>
              </a:rPr>
              <a:t>Analítica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88289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6"/>
                </a:solidFill>
                <a:latin typeface="Calibri"/>
              </a:rPr>
              <a:t>Proyección 30 días · multi-modelo · punto de equilibrio (ver guía)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504688"/>
            <a:ext cx="10698480" cy="713232"/>
          </a:xfrm>
          <a:prstGeom prst="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6875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FD8BE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6144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E6E1"/>
                </a:solidFill>
                <a:latin typeface="Calibri"/>
              </a:rPr>
              <a:t>Reporte (opcional)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68756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3A6"/>
                </a:solidFill>
                <a:latin typeface="Calibri"/>
              </a:rPr>
              <a:t>Footer → enviar un problema → Sheets + Gmail si n8n está activo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Detalle de analítica, aprendizaje y demo: docs/GUIA_DEMO_ANALITICA.md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3A6"/>
                </a:solidFill>
                <a:latin typeface="Calibri"/>
              </a:rPr>
              <a:t>AUTOMATIZACIÓN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6E1"/>
                </a:solidFill>
                <a:latin typeface="Calibri"/>
              </a:rPr>
              <a:t>n8n · Reportes de problemas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310896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7FD8BE"/>
                </a:solidFill>
                <a:latin typeface="Calibri"/>
              </a:rPr>
              <a:t>Bloque: n8n / reportes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3A6"/>
                </a:solidFill>
                <a:latin typeface="Calibri"/>
              </a:rPr>
              <a:t>El footer permite reportar un problema. Flujo aparte del ahorro de tokens: historial en Sheets + correo automático.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1645920" cy="1005840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Front</a:t>
            </a:r>
          </a:p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POST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D8BE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41448" y="2468880"/>
            <a:ext cx="1645920" cy="1005840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API</a:t>
            </a:r>
          </a:p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/api/report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D8BE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2468880"/>
            <a:ext cx="1645920" cy="1005840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Webhook</a:t>
            </a:r>
          </a:p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n8n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6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D8B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2468880"/>
            <a:ext cx="1645920" cy="1005840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Code</a:t>
            </a:r>
          </a:p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reglas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424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D8BE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57032" y="2468880"/>
            <a:ext cx="1645920" cy="1005840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Sheets</a:t>
            </a:r>
          </a:p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historial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2952" y="2788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D8B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2468880"/>
            <a:ext cx="1645920" cy="1005840"/>
          </a:xfrm>
          <a:prstGeom prst="roundRect">
            <a:avLst/>
          </a:prstGeom>
          <a:solidFill>
            <a:srgbClr val="1A1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Gmail</a:t>
            </a:r>
          </a:p>
          <a:p>
            <a:pPr algn="ctr"/>
            <a:r>
              <a:rPr sz="1100" b="0">
                <a:solidFill>
                  <a:srgbClr val="E8E6E1"/>
                </a:solidFill>
                <a:latin typeface="Calibri"/>
              </a:rPr>
              <a:t>correo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6E1"/>
                </a:solidFill>
                <a:latin typeface="Calibri"/>
              </a:rPr>
              <a:t>1. Front envía el mensaje en JSON (POST) al backend.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6E1"/>
                </a:solidFill>
                <a:latin typeface="Calibri"/>
              </a:rPr>
              <a:t>2. /api/report clasifica con reglas y reenvía otro POST al webhook de n8n.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6E1"/>
                </a:solidFill>
                <a:latin typeface="Calibri"/>
              </a:rPr>
              <a:t>3. El Webhook se activa; el Code usa el body JSON (mensaje + clasificación).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6E1"/>
                </a:solidFill>
                <a:latin typeface="Calibri"/>
              </a:rPr>
              <a:t>4. Google Sheets guarda el reporte (historial).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6E1"/>
                </a:solidFill>
                <a:latin typeface="Calibri"/>
              </a:rPr>
              <a:t>5. Gmail envía el correo con severidad, módulo y texto del usuario.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3A6"/>
                </a:solidFill>
                <a:latin typeface="Calibri"/>
              </a:rPr>
              <a:t>EN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E6E1"/>
                </a:solidFill>
                <a:latin typeface="Calibri"/>
              </a:rPr>
              <a:t>FeedbackIQ mide y reduce el costo de tokens</a:t>
            </a:r>
          </a:p>
          <a:p>
            <a:pPr algn="l"/>
            <a:r>
              <a:rPr sz="2600" b="1">
                <a:solidFill>
                  <a:srgbClr val="E8E6E1"/>
                </a:solidFill>
                <a:latin typeface="Calibri"/>
              </a:rPr>
              <a:t>traduciendo español → inglés en local,</a:t>
            </a:r>
          </a:p>
          <a:p>
            <a:pPr algn="l"/>
            <a:r>
              <a:rPr sz="2600" b="1">
                <a:solidFill>
                  <a:srgbClr val="E8E6E1"/>
                </a:solidFill>
                <a:latin typeface="Calibri"/>
              </a:rPr>
              <a:t>con una API REST y automatización de reportes.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FD8BE"/>
                </a:solidFill>
                <a:latin typeface="Calibri"/>
              </a:rPr>
              <a:t>OPUS-MT traduce oraciones con contexto  ·  CTranslate2 acelera la inferencia en CPU</a:t>
            </a:r>
          </a:p>
          <a:p>
            <a:pPr algn="l"/>
            <a:r>
              <a:rPr sz="1400" b="0">
                <a:solidFill>
                  <a:srgbClr val="7FD8BE"/>
                </a:solidFill>
                <a:latin typeface="Calibri"/>
              </a:rPr>
              <a:t>tiktoken o200k mide el ahorro  ·  n8n cierra el ciclo de soporte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E6E1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